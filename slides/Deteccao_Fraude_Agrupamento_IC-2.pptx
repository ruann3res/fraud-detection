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cHgGgIhiUktwjxd3iJRnzcNlH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89831F-0FC2-4E37-957D-342AC4AA8408}">
  <a:tblStyle styleId="{4989831F-0FC2-4E37-957D-342AC4AA84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2630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2630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_white.pn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685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1463040" y="685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PROJETO DE INTELIGENCIA COMPUTACIONAL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2148840"/>
            <a:ext cx="9692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Detecção de Fraude em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Transações Financeiras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379476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Agrupamento de dados (K-Means e DBSCAN) integrado a um classificador de Inteligência Computacional para identificar padrões de risco em transações de cartão de crédito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51663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283.726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5669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transações analisadas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11880" y="51663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473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11880" y="5669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fraudes confirmadas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0" y="51663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0,1667%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0" y="5669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taxa de fraude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alert_navy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371600" y="4846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O DESAFIO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71600" y="758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Encontrar poucas fraudes em milhões de transações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1600200"/>
            <a:ext cx="60350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Instituições financeiras processam milhões de transações por dia. A fraude é rara, mas cada caso gera prejuízo real para clientes e bancos.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23263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Pergunta central: </a:t>
            </a:r>
            <a:r>
              <a:rPr lang="en-US" sz="15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como usar agrupamento para revelar padrões normais e anômalos que apoiem um modelo de detecção de fraude?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4187952"/>
            <a:ext cx="109728" cy="109728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96112" y="411480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Desbalanceamento extremo entre classes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4645152"/>
            <a:ext cx="109728" cy="109728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96112" y="457200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Features V1–V28 abstratas (PCA, sem leitura direta de negócio)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5102352"/>
            <a:ext cx="109728" cy="109728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96112" y="502920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Acurácia é enganosa: prever tudo como legítimo já dá ~99,8%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315200" y="1600200"/>
            <a:ext cx="4206240" cy="4160520"/>
          </a:xfrm>
          <a:prstGeom prst="roundRect">
            <a:avLst>
              <a:gd fmla="val 2637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635240" y="1874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PROPORÇÃO DE FRAUDE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635240" y="214884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mbria"/>
              <a:buNone/>
            </a:pPr>
            <a:r>
              <a:rPr b="1" lang="en-US" sz="5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0,17%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635240" y="3154680"/>
            <a:ext cx="3611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das transações são fraude — 473 casos entre 284.807 no dataset original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7635240" y="416052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3A45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2"/>
          <p:cNvSpPr/>
          <p:nvPr/>
        </p:nvSpPr>
        <p:spPr>
          <a:xfrm>
            <a:off x="7635240" y="4343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MÉTRICA CRÍTICA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635240" y="4617720"/>
            <a:ext cx="3611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i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AUC-ROC, F1 e Average Precision — não Acurácia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navy.png" id="56" name="Google Shape;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/>
          <p:nvPr/>
        </p:nvSpPr>
        <p:spPr>
          <a:xfrm>
            <a:off x="1371600" y="4846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371600" y="758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Base de dados: transações europeias de 2 dias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1600200"/>
            <a:ext cx="2542032" cy="1554480"/>
          </a:xfrm>
          <a:prstGeom prst="roundRect">
            <a:avLst>
              <a:gd fmla="val 5882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22960" y="173736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283.726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22960" y="233172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transações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(pós-deduplicação)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346704" y="1600200"/>
            <a:ext cx="2542032" cy="1554480"/>
          </a:xfrm>
          <a:prstGeom prst="roundRect">
            <a:avLst>
              <a:gd fmla="val 5882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529584" y="173736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473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529584" y="233172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fraudes confirmadas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(0,1667%)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053328" y="1600200"/>
            <a:ext cx="2542032" cy="1554480"/>
          </a:xfrm>
          <a:prstGeom prst="roundRect">
            <a:avLst>
              <a:gd fmla="val 5882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236208" y="173736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236208" y="233172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variáveis explicativas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(V1–V28, Time, Amount)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759952" y="1600200"/>
            <a:ext cx="2542032" cy="1554480"/>
          </a:xfrm>
          <a:prstGeom prst="roundRect">
            <a:avLst>
              <a:gd fmla="val 5882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942832" y="173736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1.081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942832" y="233172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duplicatas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removidas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" y="342900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O QUE COMPÕE A BASE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0080" y="3794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V1 a V28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103120" y="379476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Componentes de PCA — sinal comportamental </a:t>
            </a:r>
            <a:r>
              <a:rPr lang="en-US" sz="12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anonimizado</a:t>
            </a:r>
            <a:r>
              <a:rPr lang="en-US" sz="12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, sem interpretação direta de negócio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43616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103120" y="4361688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Segundos desde a primeira transação da base (~2 dias de janela)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080" y="492861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Amount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103120" y="4928616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Valor da transação em dólar — única variável com leitura direta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40080" y="549554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103120" y="5495544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Alvo: 0 = legítima, 1 = fraude (usada apenas para avaliação, nunca no clustering)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_navy.png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1371600" y="4846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371600" y="758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Pipeline: do dado bruto à predição de fraude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0080" y="1965960"/>
            <a:ext cx="2048256" cy="3063240"/>
          </a:xfrm>
          <a:prstGeom prst="roundRect">
            <a:avLst>
              <a:gd fmla="val 4464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804672" y="21305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90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459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04672" y="274320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Preparação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04672" y="3200400"/>
            <a:ext cx="171907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Remoção de duplicatas, separação de Class, padronização (StandardScaler / RobustScaler)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670048" y="3268980"/>
            <a:ext cx="3977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811780" y="1965960"/>
            <a:ext cx="2048256" cy="3063240"/>
          </a:xfrm>
          <a:prstGeom prst="roundRect">
            <a:avLst>
              <a:gd fmla="val 4464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976372" y="21305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E7F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E1E7F5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976372" y="274320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K-Means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976372" y="3200400"/>
            <a:ext cx="171907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Segmentação em perfis transacionais (k=6) — visão geral dos grupos normais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841748" y="3268980"/>
            <a:ext cx="3977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983480" y="1965960"/>
            <a:ext cx="2048256" cy="3063240"/>
          </a:xfrm>
          <a:prstGeom prst="roundRect">
            <a:avLst>
              <a:gd fmla="val 4464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148072" y="21305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90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459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148072" y="274320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DBSCAN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148072" y="3200400"/>
            <a:ext cx="171907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Detecção de anomalias: pontos de ruído como sinal de comportamento atípico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013448" y="3268980"/>
            <a:ext cx="3977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155180" y="1965960"/>
            <a:ext cx="2048256" cy="3063240"/>
          </a:xfrm>
          <a:prstGeom prst="roundRect">
            <a:avLst>
              <a:gd fmla="val 4464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319772" y="21305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E7F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E1E7F5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319772" y="274320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Integração IC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319772" y="3200400"/>
            <a:ext cx="171907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Rótulos de cluster viram novas features para o Random Forest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185148" y="3268980"/>
            <a:ext cx="3977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326880" y="1965960"/>
            <a:ext cx="2048256" cy="3063240"/>
          </a:xfrm>
          <a:prstGeom prst="roundRect">
            <a:avLst>
              <a:gd fmla="val 4464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491472" y="21305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90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4590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491472" y="274320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Validação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9491472" y="3200400"/>
            <a:ext cx="171907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Comparação com e sem clusters, amostra de 15k e base completa (283.726)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separação entre etapas garante que o agrupamento seja não supervisionado — a variável Class só entra depois, para avaliar os grupos.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roup_navy.png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1371600" y="4846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AGRUPAMENTO · SEMANA 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371600" y="758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K-Means: baseline de perfis transacionais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080" y="160020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Testados valores de </a:t>
            </a:r>
            <a:r>
              <a:rPr b="1" lang="en-US" sz="14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k entre 2 e 10</a:t>
            </a:r>
            <a:r>
              <a:rPr lang="en-US" sz="14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, usando método do cotovelo e Silhouette Score.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Melhor resultado: </a:t>
            </a:r>
            <a:r>
              <a:rPr b="1" lang="en-US" sz="14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k = 6</a:t>
            </a:r>
            <a:r>
              <a:rPr lang="en-US" sz="14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, com StandardScaler (necessário por depender de distância euclidiana).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080" y="310896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86968" y="3065655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Criou uma segmentação clara em seis perfis transacionais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0080" y="3621024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86968" y="3577719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Permitiu comparar a taxa de fraude entre grupos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40080" y="413308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886968" y="4089783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Gerou a variável cluster_kmeans_semana3, usada depois na etapa de 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0080" y="4645152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886968" y="4601847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Silhouette baixo (≈0,0863) — clusters sobrepostos, mas ainda úteis para segmentação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315200" y="1600200"/>
            <a:ext cx="4206240" cy="4160520"/>
          </a:xfrm>
          <a:prstGeom prst="roundRect">
            <a:avLst>
              <a:gd fmla="val 2637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635240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CONFIGURAÇÃO DO MODELO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635240" y="22402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144000" y="2240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6 clusters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635240" y="264261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144000" y="264261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StandardScaler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635240" y="304495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n_init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144000" y="304495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635240" y="344728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random_state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144000" y="344728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7635240" y="397764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E1E7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5"/>
          <p:cNvSpPr/>
          <p:nvPr/>
        </p:nvSpPr>
        <p:spPr>
          <a:xfrm>
            <a:off x="7635240" y="4160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Papel do K-Means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635240" y="4526280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Melhor como segmentador de perfis transacionais — não como detector de outliers.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630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ullseye_white.png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7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1280160" y="4846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AGRUPAMENTO · SEMANA 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280160" y="758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DBSCAN: o ruído como sinal de anomalia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40080" y="1691640"/>
            <a:ext cx="5394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Fraudes tendem a ser pontos atípicos, não grupos grandes e coesos. Diferente do K-Means, o DBSCAN classifica pontos como </a:t>
            </a:r>
            <a:r>
              <a:rPr b="1"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ruído (label -1)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— um sinal direto de comportamento anômalo.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40080" y="30632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min_samples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017520" y="306324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40080" y="344728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eps (amostra 15k)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017520" y="344728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8,3063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40080" y="383133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eps (base completa)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017520" y="3831336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2,5 (recalibrado)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40080" y="421538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017520" y="421538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RobustScaler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537960" y="1691640"/>
            <a:ext cx="4983480" cy="4407408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858000" y="1920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NA BASE COMPLETA (283.726 TRANSAÇÕES)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858000" y="2194560"/>
            <a:ext cx="4389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6600"/>
              <a:buFont typeface="Cambria"/>
              <a:buNone/>
            </a:pPr>
            <a:r>
              <a:rPr b="1" lang="en-US" sz="6600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93,02%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858000" y="333756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das fraudes (440 de 473) caíram na região de ruído do DBSCAN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6"/>
          <p:cNvCxnSpPr/>
          <p:nvPr/>
        </p:nvCxnSpPr>
        <p:spPr>
          <a:xfrm>
            <a:off x="6858000" y="4114800"/>
            <a:ext cx="4343400" cy="0"/>
          </a:xfrm>
          <a:prstGeom prst="straightConnector1">
            <a:avLst/>
          </a:prstGeom>
          <a:noFill/>
          <a:ln cap="flat" cmpd="sng" w="12700">
            <a:solidFill>
              <a:srgbClr val="E1E7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6858000" y="42976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58000" y="4754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clusters densos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052560" y="42976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26,51%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052560" y="4754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 base é ruído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858000" y="5349240"/>
            <a:ext cx="4343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Taxa de fraude dentro do ruído: 0,585% — acima da média global (0,1667%), mas ainda baixa em termos absolutos: informativo, não suficiente sozinho.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_navy.png"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1371600" y="4846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INTELIGÊNCIA COMPUTACIONAL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371600" y="758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Random Forest: clusters como novas features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Tarefa: </a:t>
            </a:r>
            <a:r>
              <a:rPr lang="en-US" sz="14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classificação binária (Class), com Random Forest — robusto a relações não lineares e capaz de medir importância de variáveis.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40080" y="2240280"/>
            <a:ext cx="1088136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914400" y="224028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RandomForestClassifier(n_estimators=200, min_samples_leaf=2, class_weight="balanced", random_state=42)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40080" y="32918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MODELOS COMPARADOS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7"/>
          <p:cNvGraphicFramePr/>
          <p:nvPr/>
        </p:nvGraphicFramePr>
        <p:xfrm>
          <a:off x="640080" y="36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{4989831F-0FC2-4E37-957D-342AC4AA8408}</a:tableStyleId>
              </a:tblPr>
              <a:tblGrid>
                <a:gridCol w="2743200"/>
                <a:gridCol w="4937750"/>
                <a:gridCol w="32004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 utilizadas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 sem clusters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variáveis originais (V1–V28, Time, Amount)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supervisionado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 K-Means + DBSCAN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Variáveis originais + cluster_kmeans + dbscan_ruido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híbrido completo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 apenas DBSCAN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Variáveis originais + dbscan_ruido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Isolar o efeito do sinal de anomalia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7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art_navy.png" id="205" name="Google Shape;2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1371600" y="4846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VALIDAÇÃO · SEMANA 5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371600" y="758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Resultados na base completa (283.726 transações)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8"/>
          <p:cNvGraphicFramePr/>
          <p:nvPr/>
        </p:nvGraphicFramePr>
        <p:xfrm>
          <a:off x="64008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{4989831F-0FC2-4E37-957D-342AC4AA8408}</a:tableStyleId>
              </a:tblPr>
              <a:tblGrid>
                <a:gridCol w="2286000"/>
                <a:gridCol w="987550"/>
                <a:gridCol w="987550"/>
                <a:gridCol w="987550"/>
                <a:gridCol w="987550"/>
                <a:gridCol w="9875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AUC-ROC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Precision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 sem clusters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0,9491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0,7263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0,9583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 K-Means + DBSCAN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0,8122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0,7263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0,9583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 apenas DBSCAN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0,9329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0,8083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0,7263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6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8"/>
          <p:cNvSpPr/>
          <p:nvPr/>
        </p:nvSpPr>
        <p:spPr>
          <a:xfrm>
            <a:off x="640080" y="352044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Conjunto de teste com 95 fraudes reais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40080" y="3977640"/>
            <a:ext cx="7223760" cy="1783080"/>
          </a:xfrm>
          <a:prstGeom prst="roundRect">
            <a:avLst>
              <a:gd fmla="val 5128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914400" y="4160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BASELINE (RF SEM CLUSTERS)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14400" y="44805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69 / 95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14400" y="49834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fraudes detectadas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246120" y="44805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246120" y="49834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falsos positivos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577840" y="44805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577840" y="49834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falsos negativos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092440" y="1645920"/>
            <a:ext cx="3429000" cy="4114800"/>
          </a:xfrm>
          <a:prstGeom prst="roundRect">
            <a:avLst>
              <a:gd fmla="val 3200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8366760" y="1874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VALIDAÇÃO CRUZADA (5 FOLDS)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366760" y="214884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lang="en-US" sz="4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+0,0015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366760" y="292608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maior ganho médio em Average Precision de um modelo com clusters — diferença dentro da variação esperada entre folds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8"/>
          <p:cNvCxnSpPr/>
          <p:nvPr/>
        </p:nvCxnSpPr>
        <p:spPr>
          <a:xfrm>
            <a:off x="8366760" y="4160520"/>
            <a:ext cx="2880360" cy="0"/>
          </a:xfrm>
          <a:prstGeom prst="straightConnector1">
            <a:avLst/>
          </a:prstGeom>
          <a:noFill/>
          <a:ln cap="flat" cmpd="sng" w="12700">
            <a:solidFill>
              <a:srgbClr val="3A45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8"/>
          <p:cNvSpPr/>
          <p:nvPr/>
        </p:nvSpPr>
        <p:spPr>
          <a:xfrm>
            <a:off x="8366750" y="4343400"/>
            <a:ext cx="2926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Nenhum modelo com clusters superou o baseline de forma relevante.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343850" y="5104575"/>
            <a:ext cx="29262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80 % Para treinar e 20 % para teste</a:t>
            </a:r>
            <a:endParaRPr i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Limiar de 0,5 e foco em nao FP</a:t>
            </a:r>
            <a:endParaRPr i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ulb_navy.png"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1371600" y="4846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INTERPRETAÇÃO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371600" y="758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Duas conclusões distintas sobre o agrupamento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40080" y="1645920"/>
            <a:ext cx="5257800" cy="2148840"/>
          </a:xfrm>
          <a:prstGeom prst="roundRect">
            <a:avLst>
              <a:gd fmla="val 4255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914400" y="18288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ÚTEIS PARA ANÁLISE EXPLORATÓRIA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914400" y="2148840"/>
            <a:ext cx="4709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DBSCAN concentrou 93,02% das fraudes na região de ruído. K-Means nomeou perfis com diferentes níveis de risco.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263640" y="1645920"/>
            <a:ext cx="5257800" cy="2148840"/>
          </a:xfrm>
          <a:prstGeom prst="roundRect">
            <a:avLst>
              <a:gd fmla="val 4255" name="adj"/>
            </a:avLst>
          </a:prstGeom>
          <a:solidFill>
            <a:srgbClr val="F4F6FB"/>
          </a:solidFill>
          <a:ln>
            <a:noFill/>
          </a:ln>
          <a:effectLst>
            <a:outerShdw blurRad="127000" rotWithShape="0" algn="bl" dir="5400000" dist="381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537960" y="18288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GANHO PREDITIVO LIMITADO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537960" y="2148840"/>
            <a:ext cx="4709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As variáveis V1–V28, Time e Amount já continham a maior parte do sinal que os clusters capturavam indiretamente.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40080" y="402336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IMPORTÂNCIA DAS VARIÁVEIS NO MODELO HÍBRIDO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40080" y="44348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V14, V4, V10, V12 (variáveis PCA)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749040" y="4526280"/>
            <a:ext cx="7289231" cy="320040"/>
          </a:xfrm>
          <a:prstGeom prst="roundRect">
            <a:avLst>
              <a:gd fmla="val 1714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10215311" y="443484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94,9%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40080" y="50292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3263B"/>
                </a:solidFill>
                <a:latin typeface="Calibri"/>
                <a:ea typeface="Calibri"/>
                <a:cs typeface="Calibri"/>
                <a:sym typeface="Calibri"/>
              </a:rPr>
              <a:t>dbscan_ruido + cluster_kmeans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749040" y="5120640"/>
            <a:ext cx="391729" cy="320040"/>
          </a:xfrm>
          <a:prstGeom prst="roundRect">
            <a:avLst>
              <a:gd fmla="val 17143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232209" y="502920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5,1%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40080" y="6519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Deteccao de Fraude · Agrupamento + 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D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630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oad_white.png"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640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1234440" y="6583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40080" y="10515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Agrupamento e IC: papéis complementares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Os clusters não falharam</a:t>
            </a: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cumpriram um papel de análise e interpretação, evidenciando regiões anômalas da base, enquanto o Random Forest baseline já extraía forte sinal preditivo das variáveis originais.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0080" y="28803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40080" y="3300984"/>
            <a:ext cx="100584" cy="100584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886968" y="3172968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Ajustar o limiar de decisão com base na curva Precision-Recall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263640" y="3300984"/>
            <a:ext cx="100584" cy="100584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510528" y="3172968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Testar XGBoost, LightGBM e regressão logística regularizada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40080" y="3867912"/>
            <a:ext cx="100584" cy="100584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86968" y="373989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de hiperparâmetros do Random Forest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263640" y="3867912"/>
            <a:ext cx="100584" cy="100584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510528" y="373989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Explorar dbscan_ruido em modelos de dois estágios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40080" y="4434840"/>
            <a:ext cx="100584" cy="100584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886968" y="43068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Avaliar custo de negócio de falsos positivos e falsos negativos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dbscan_ruido permanece como o sinal de agrupamento mais promissor para evoluções futuras.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2026-07-07T20:01:13Z</dcterms:created>
  <dc:creator>Projeto - Deteccao de Fraude</dc:creator>
</cp:coreProperties>
</file>